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yourself and the one-line pitch: a full-stack Hospital Management System built for Ghanaian hospitals and clinics, covering the whole patient journey from registration through discharge. Mention it's a real, working system — not a mockup — and you'll show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motivation before diving into the system. Each of these four is a real, named failure mode of paper-based hospital administration. The audit-trail point ties directly into the Data Protection Act, which you'll come back to later — plant that seed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then second row. Emphasize this isn't nine separate tools bolted together — it's one system where a Visit record links every one of these steps together, so nothing has to be re-typed at the next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brisk — it's a checklist slide. If asked why Django over Node, or Postgres over Mongo: relational data with real foreign-key integrity (a prescription must belong to a real consultation, a bed can't hold two active admissions) is exactly what a hospital's data model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Three-tier architecture, deliberately simple. The two arrow labels are the two things worth defending under questions: JWT for stateless auth, and the ORM for SQL-injection safety by construction — no raw string interpolation anywhere in the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security backbone of the whole system: a custom Role model, many-to-many to Permission through RolePermission, checked by one generic permission class on every single endpoint. If someone asks 'what stops a receptionist from editing lab results' — this slide is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Ghana-specific isn't just translation or currency symbols — it's compliance-first. Call out that Mobile Money and NHIS both sit behind mock interfaces on purpose: nothing in this codebase fabricates a real external API integration that doesn't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Patients is the anchor entity everything else hangs off. Queue is where a walk-in or a booked Appointment turns into a real Visit — the record every other clinical module attaches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details worth stating out loud if asked: dispensing checks BOTH what's left on the prescription AND real stock under a database row lock — that's what stops two pharmacists dispensing the same last few tablets at once. And bed double-booking is a hard database constraint, not just an application-level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 — it makes every earlier module slide concrete. If you have time, this is also the moment to switch to the live demo instead of staying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bug callouts are the strongest part of this slide — they show the tests actually caught real problems, not just padded a coverage number. Both were found by testing against the live API, not by code review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'what happens if something goes wrong or someone misbehaves' — every clinical system needs this story, and this one has one for each of the big four: who did what, can I see data I shouldn't, can I lose data, is data mixed across hospitals.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scope discipline, not a gap list. Billing was actually built in an earlier phase and deliberately removed later — worth mentioning only if asked, as an example of the project responding to a real product decision rather than just accumulating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achievement summary in one sentence: a working, tested, security-conscious hospital system built for a real regulatory context, not a toy CRUD app. Then 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1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5943600" cy="5943600"/>
          </a:xfrm>
          <a:prstGeom prst="ellipse">
            <a:avLst/>
          </a:prstGeom>
          <a:solidFill>
            <a:srgbClr val="17C3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206240"/>
            <a:ext cx="5669280" cy="5669280"/>
          </a:xfrm>
          <a:prstGeom prst="ellipse">
            <a:avLst/>
          </a:prstGeom>
          <a:solidFill>
            <a:srgbClr val="17C3B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33392" y="1234440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5" name="Image 0" descr="/private/tmp/claude-501/-Users-marzooqhabibmohamadu-Documents-hospital-management-system/e906771b-d992-4fe3-ba09-a61aff85e5cf/scratchpad/deck/icons/ShieldCheck-13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9404" y="133045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55184" y="121615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HMS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14884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52044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secure patient-care platform built for Ghanaian hospitals and clinics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523848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1523848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built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724248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724248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roles, RBAC-enforced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24648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924648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60807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Project Presentation  ·  [Your Name]  · 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hospitals in Ghana need this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paper-based workflows create risk, delay, and blind spots across the patient journey.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18608" cy="1874520"/>
          </a:xfrm>
          <a:prstGeom prst="roundRect">
            <a:avLst>
              <a:gd name="adj" fmla="val 5854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432304"/>
            <a:ext cx="603504" cy="603504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7" name="Image 0" descr="/private/tmp/claude-501/-Users-marzooqhabibmohamadu-Documents-hospital-management-system/e906771b-d992-4fe3-ba09-a61aff85e5cf/scratchpad/deck/icons/File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358" y="2571110"/>
            <a:ext cx="325892" cy="3258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47088" y="2377440"/>
            <a:ext cx="379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847088" y="2834640"/>
            <a:ext cx="379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prescriptions, and lab slips live on paper — slow to find, easy to lose, impossible to search.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3008" y="2103120"/>
            <a:ext cx="5318608" cy="1874520"/>
          </a:xfrm>
          <a:prstGeom prst="roundRect">
            <a:avLst>
              <a:gd name="adj" fmla="val 5854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0480" y="2432304"/>
            <a:ext cx="603504" cy="603504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2" name="Image 1" descr="/private/tmp/claude-501/-Users-marzooqhabibmohamadu-Documents-hospital-management-system/e906771b-d992-4fe3-ba09-a61aff85e5cf/scratchpad/deck/icons/Link2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286" y="2571110"/>
            <a:ext cx="325892" cy="3258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40016" y="2377440"/>
            <a:ext cx="379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440016" y="2834640"/>
            <a:ext cx="379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Reception, pharmacy, lab, and billing rarely share the same data, so staff re-enter information repeatedly.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318608" cy="1874520"/>
          </a:xfrm>
          <a:prstGeom prst="roundRect">
            <a:avLst>
              <a:gd name="adj" fmla="val 5854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87552" y="4535424"/>
            <a:ext cx="603504" cy="603504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7" name="Image 2" descr="/private/tmp/claude-501/-Users-marzooqhabibmohamadu-Documents-hospital-management-system/e906771b-d992-4fe3-ba09-a61aff85e5cf/scratchpad/deck/icons/History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58" y="4674230"/>
            <a:ext cx="325892" cy="3258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47088" y="4480560"/>
            <a:ext cx="379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audit trail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847088" y="4937760"/>
            <a:ext cx="379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accessed a record, and when, is often unanswerable — a real compliance risk under Ghana's Data Protection Act.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33008" y="4206240"/>
            <a:ext cx="5318608" cy="1874520"/>
          </a:xfrm>
          <a:prstGeom prst="roundRect">
            <a:avLst>
              <a:gd name="adj" fmla="val 5854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0480" y="4535424"/>
            <a:ext cx="603504" cy="603504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22" name="Image 3" descr="/private/tmp/claude-501/-Users-marzooqhabibmohamadu-Documents-hospital-management-system/e906771b-d992-4fe3-ba09-a61aff85e5cf/scratchpad/deck/icons/Hourglass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286" y="4674230"/>
            <a:ext cx="325892" cy="32589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40016" y="4480560"/>
            <a:ext cx="379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patient flow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440016" y="4937760"/>
            <a:ext cx="379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shared queue or visit record, patients wait longer and staff lose time chasing information.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the entire patient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65474" y="2011680"/>
            <a:ext cx="731520" cy="731520"/>
          </a:xfrm>
          <a:prstGeom prst="ellipse">
            <a:avLst/>
          </a:prstGeom>
          <a:solidFill>
            <a:srgbClr val="17C3B2"/>
          </a:solidFill>
          <a:ln/>
          <a:effectLst>
            <a:outerShdw sx="100000" sy="100000" kx="0" ky="0" algn="bl" rotWithShape="0" blurRad="76200" dist="38100" dir="5400000">
              <a:srgbClr val="0B123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36547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89504"/>
            <a:ext cx="20908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2548067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547781" y="2011680"/>
            <a:ext cx="731520" cy="731520"/>
          </a:xfrm>
          <a:prstGeom prst="ellipse">
            <a:avLst/>
          </a:prstGeom>
          <a:solidFill>
            <a:srgbClr val="17C3B2"/>
          </a:solidFill>
          <a:ln/>
          <a:effectLst>
            <a:outerShdw sx="100000" sy="100000" kx="0" ky="0" algn="bl" rotWithShape="0" blurRad="76200" dist="38100" dir="5400000">
              <a:srgbClr val="0B123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47781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868107" y="2889504"/>
            <a:ext cx="20908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730374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730088" y="2011680"/>
            <a:ext cx="731520" cy="731520"/>
          </a:xfrm>
          <a:prstGeom prst="ellipse">
            <a:avLst/>
          </a:prstGeom>
          <a:solidFill>
            <a:srgbClr val="17C3B2"/>
          </a:solidFill>
          <a:ln/>
          <a:effectLst>
            <a:outerShdw sx="100000" sy="100000" kx="0" ky="0" algn="bl" rotWithShape="0" blurRad="76200" dist="38100" dir="5400000">
              <a:srgbClr val="0B123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73008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50414" y="2889504"/>
            <a:ext cx="20908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912681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912395" y="2011680"/>
            <a:ext cx="731520" cy="731520"/>
          </a:xfrm>
          <a:prstGeom prst="ellipse">
            <a:avLst/>
          </a:prstGeom>
          <a:solidFill>
            <a:srgbClr val="17C3B2"/>
          </a:solidFill>
          <a:ln/>
          <a:effectLst>
            <a:outerShdw sx="100000" sy="100000" kx="0" ky="0" algn="bl" rotWithShape="0" blurRad="76200" dist="38100" dir="5400000">
              <a:srgbClr val="0B123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912395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32721" y="2889504"/>
            <a:ext cx="20908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094988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0094702" y="2011680"/>
            <a:ext cx="731520" cy="731520"/>
          </a:xfrm>
          <a:prstGeom prst="ellipse">
            <a:avLst/>
          </a:prstGeom>
          <a:solidFill>
            <a:srgbClr val="17C3B2"/>
          </a:solidFill>
          <a:ln/>
          <a:effectLst>
            <a:outerShdw sx="100000" sy="100000" kx="0" ky="0" algn="bl" rotWithShape="0" blurRad="76200" dist="38100" dir="5400000">
              <a:srgbClr val="0B123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94702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415028" y="2889504"/>
            <a:ext cx="20908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638262" y="4114800"/>
            <a:ext cx="731520" cy="731520"/>
          </a:xfrm>
          <a:prstGeom prst="ellipse">
            <a:avLst/>
          </a:prstGeom>
          <a:solidFill>
            <a:srgbClr val="17C3B2"/>
          </a:solidFill>
          <a:ln/>
          <a:effectLst>
            <a:outerShdw sx="100000" sy="100000" kx="0" ky="0" algn="bl" rotWithShape="0" blurRad="76200" dist="38100" dir="5400000">
              <a:srgbClr val="0B123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638262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992624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3093644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4366146" y="4114800"/>
            <a:ext cx="731520" cy="731520"/>
          </a:xfrm>
          <a:prstGeom prst="ellipse">
            <a:avLst/>
          </a:prstGeom>
          <a:solidFill>
            <a:srgbClr val="17C3B2"/>
          </a:solidFill>
          <a:ln/>
          <a:effectLst>
            <a:outerShdw sx="100000" sy="100000" kx="0" ky="0" algn="bl" rotWithShape="0" blurRad="76200" dist="38100" dir="5400000">
              <a:srgbClr val="0B1230">
                <a:alpha val="1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366146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3413684" y="4992624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5821528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094030" y="4114800"/>
            <a:ext cx="731520" cy="731520"/>
          </a:xfrm>
          <a:prstGeom prst="ellipse">
            <a:avLst/>
          </a:prstGeom>
          <a:solidFill>
            <a:srgbClr val="17C3B2"/>
          </a:solidFill>
          <a:ln/>
          <a:effectLst>
            <a:outerShdw sx="100000" sy="100000" kx="0" ky="0" algn="bl" rotWithShape="0" blurRad="76200" dist="38100" dir="5400000">
              <a:srgbClr val="0B1230">
                <a:alpha val="1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09403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6141568" y="4992624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/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549411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9821913" y="4114800"/>
            <a:ext cx="731520" cy="731520"/>
          </a:xfrm>
          <a:prstGeom prst="ellipse">
            <a:avLst/>
          </a:prstGeom>
          <a:solidFill>
            <a:srgbClr val="17C3B2"/>
          </a:solidFill>
          <a:ln/>
          <a:effectLst>
            <a:outerShdw sx="100000" sy="100000" kx="0" ky="0" algn="bl" rotWithShape="0" blurRad="76200" dist="38100" dir="5400000">
              <a:srgbClr val="0B1230">
                <a:alpha val="1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821913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8869451" y="4992624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captured in the system — nothing lives only on paper.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22144" cy="3611880"/>
          </a:xfrm>
          <a:prstGeom prst="roundRect">
            <a:avLst>
              <a:gd name="adj" fmla="val 4351"/>
            </a:avLst>
          </a:prstGeom>
          <a:solidFill>
            <a:srgbClr val="132048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1112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private/tmp/claude-501/-Users-marzooqhabibmohamadu-Documents-hospital-management-system/e906771b-d992-4fe3-ba09-a61aff85e5cf/scratchpad/deck/icons/MonitorSmartphone-13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330" y="2478938"/>
            <a:ext cx="345643" cy="3456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54680"/>
            <a:ext cx="224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2156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36544" y="2011680"/>
            <a:ext cx="2522144" cy="3611880"/>
          </a:xfrm>
          <a:prstGeom prst="roundRect">
            <a:avLst>
              <a:gd name="adj" fmla="val 4351"/>
            </a:avLst>
          </a:prstGeom>
          <a:solidFill>
            <a:srgbClr val="0E9C8F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7576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private/tmp/claude-501/-Users-marzooqhabibmohamadu-Documents-hospital-management-system/e906771b-d992-4fe3-ba09-a61aff85e5cf/scratchpad/deck/icons/Server-1320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794" y="2478938"/>
            <a:ext cx="345643" cy="3456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73704" y="3154680"/>
            <a:ext cx="224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19424" y="3703320"/>
            <a:ext cx="2156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Django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(OpenAPI / Swagger docs)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33008" y="2011680"/>
            <a:ext cx="2522144" cy="3611880"/>
          </a:xfrm>
          <a:prstGeom prst="roundRect">
            <a:avLst>
              <a:gd name="adj" fmla="val 4351"/>
            </a:avLst>
          </a:prstGeom>
          <a:solidFill>
            <a:srgbClr val="132048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4040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private/tmp/claude-501/-Users-marzooqhabibmohamadu-Documents-hospital-management-system/e906771b-d992-4fe3-ba09-a61aff85e5cf/scratchpad/deck/icons/Database-1320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58" y="2478938"/>
            <a:ext cx="345643" cy="3456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70168" y="3154680"/>
            <a:ext cx="224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15888" y="3703320"/>
            <a:ext cx="2156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Hospital-scoped from day one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vs. auto-increment,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per table by rule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29471" y="2011680"/>
            <a:ext cx="2522144" cy="3611880"/>
          </a:xfrm>
          <a:prstGeom prst="roundRect">
            <a:avLst>
              <a:gd name="adj" fmla="val 4351"/>
            </a:avLst>
          </a:prstGeom>
          <a:solidFill>
            <a:srgbClr val="0E9C8F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70503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private/tmp/claude-501/-Users-marzooqhabibmohamadu-Documents-hospital-management-system/e906771b-d992-4fe3-ba09-a61aff85e5cf/scratchpad/deck/icons/KeyRound-13204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722" y="2478938"/>
            <a:ext cx="345643" cy="3456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631" y="3154680"/>
            <a:ext cx="224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12351" y="3703320"/>
            <a:ext cx="2156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(SimpleJWT)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access token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refresh token</a:t>
            </a:r>
            <a:endParaRPr lang="en-US" sz="130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on logout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38048" y="210312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32048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70736" y="2359152"/>
            <a:ext cx="603504" cy="603504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6" name="Image 0" descr="/private/tmp/claude-501/-Users-marzooqhabibmohamadu-Documents-hospital-management-system/e906771b-d992-4fe3-ba09-a61aff85e5cf/scratchpad/deck/icons/MonitorSmartphone-13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542" y="2497958"/>
            <a:ext cx="325892" cy="3258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29488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29488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1520" y="2843784"/>
            <a:ext cx="1225296" cy="256032"/>
          </a:xfrm>
          <a:prstGeom prst="rightArrow">
            <a:avLst/>
          </a:prstGeom>
          <a:solidFill>
            <a:srgbClr val="0E9C8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06928" y="23865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JWT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61408" y="210312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32048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94096" y="2359152"/>
            <a:ext cx="603504" cy="603504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3" name="Image 1" descr="/private/tmp/claude-501/-Users-marzooqhabibmohamadu-Documents-hospital-management-system/e906771b-d992-4fe3-ba09-a61aff85e5cf/scratchpad/deck/icons/Server-1320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902" y="2497958"/>
            <a:ext cx="325892" cy="32589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52848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952848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94880" y="2843784"/>
            <a:ext cx="1225296" cy="256032"/>
          </a:xfrm>
          <a:prstGeom prst="rightArrow">
            <a:avLst/>
          </a:prstGeom>
          <a:solidFill>
            <a:srgbClr val="0E9C8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30288" y="23865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— no raw SQL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884768" y="210312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32048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817456" y="2359152"/>
            <a:ext cx="603504" cy="603504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20" name="Image 2" descr="/private/tmp/claude-501/-Users-marzooqhabibmohamadu-Documents-hospital-management-system/e906771b-d992-4fe3-ba09-a61aff85e5cf/scratchpad/deck/icons/Database-1320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262" y="2497958"/>
            <a:ext cx="325892" cy="32589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76208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976208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store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2022805" y="4526280"/>
            <a:ext cx="566928" cy="566928"/>
          </a:xfrm>
          <a:prstGeom prst="ellipse">
            <a:avLst/>
          </a:prstGeom>
          <a:solidFill>
            <a:srgbClr val="F2F5FA"/>
          </a:solidFill>
          <a:ln/>
        </p:spPr>
      </p:sp>
      <p:pic>
        <p:nvPicPr>
          <p:cNvPr id="24" name="Image 3" descr="/private/tmp/claude-501/-Users-marzooqhabibmohamadu-Documents-hospital-management-system/e906771b-d992-4fe3-ba09-a61aff85e5cf/scratchpad/deck/icons/ShieldCheck-13204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7529" y="4651004"/>
            <a:ext cx="317480" cy="317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2960" y="52578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enforced server-side on every request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812384" y="4526280"/>
            <a:ext cx="566928" cy="566928"/>
          </a:xfrm>
          <a:prstGeom prst="ellipse">
            <a:avLst/>
          </a:prstGeom>
          <a:solidFill>
            <a:srgbClr val="F2F5FA"/>
          </a:solidFill>
          <a:ln/>
        </p:spPr>
      </p:sp>
      <p:pic>
        <p:nvPicPr>
          <p:cNvPr id="27" name="Image 4" descr="/private/tmp/claude-501/-Users-marzooqhabibmohamadu-Documents-hospital-management-system/e906771b-d992-4fe3-ba09-a61aff85e5cf/scratchpad/deck/icons/KeyRound-13204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108" y="4651004"/>
            <a:ext cx="317480" cy="3174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612538" y="52578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sessions — 15-minute access token, rotating refresh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9601962" y="4526280"/>
            <a:ext cx="566928" cy="566928"/>
          </a:xfrm>
          <a:prstGeom prst="ellipse">
            <a:avLst/>
          </a:prstGeom>
          <a:solidFill>
            <a:srgbClr val="F2F5FA"/>
          </a:solidFill>
          <a:ln/>
        </p:spPr>
      </p:sp>
      <p:pic>
        <p:nvPicPr>
          <p:cNvPr id="30" name="Image 5" descr="/private/tmp/claude-501/-Users-marzooqhabibmohamadu-Documents-hospital-management-system/e906771b-d992-4fe3-ba09-a61aff85e5cf/scratchpad/deck/icons/Building2-13204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6686" y="4651004"/>
            <a:ext cx="317480" cy="317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02117" y="52578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scoped to its hospital, from the very first query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access, enforced server-side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5" name="Image 0" descr="/private/tmp/claude-501/-Users-marzooqhabibmohamadu-Documents-hospital-management-system/e906771b-d992-4fe3-ba09-a61aff85e5cf/scratchpad/deck/icons/ShieldCheck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2233513"/>
            <a:ext cx="306141" cy="3061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35608" y="2066544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server-side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35608" y="2432304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checked against the real permission table — the frontend nav is a convenience, never the security boundary.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9" name="Image 1" descr="/private/tmp/claude-501/-Users-marzooqhabibmohamadu-Documents-hospital-management-system/e906771b-d992-4fe3-ba09-a61aff85e5cf/scratchpad/deck/icons/Lock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73" y="3650833"/>
            <a:ext cx="306141" cy="30614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35608" y="3483864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by default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35608" y="3849624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role starts with zero access. Permissions are granted deliberately, module by module, action by action.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937760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3" name="Image 2" descr="/private/tmp/claude-501/-Users-marzooqhabibmohamadu-Documents-hospital-management-system/e906771b-d992-4fe3-ba09-a61aff85e5cf/scratchpad/deck/icons/EyeOff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5068153"/>
            <a:ext cx="306141" cy="30614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35608" y="4901184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mirrors real permissions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35608" y="5266944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pharmacist never even sees admin-only screens — not just blocked from them, genuinely hidden.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5760720" y="196596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roles, least-privilege by default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760720" y="2487168"/>
            <a:ext cx="2781148" cy="603504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760720" y="2487168"/>
            <a:ext cx="27811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770468" y="2487168"/>
            <a:ext cx="2781148" cy="603504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770468" y="2487168"/>
            <a:ext cx="27811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Administrator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760720" y="3291840"/>
            <a:ext cx="2781148" cy="603504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760720" y="3291840"/>
            <a:ext cx="27811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770468" y="3291840"/>
            <a:ext cx="2781148" cy="603504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770468" y="3291840"/>
            <a:ext cx="27811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760720" y="4096512"/>
            <a:ext cx="2781148" cy="603504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760720" y="4096512"/>
            <a:ext cx="27811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770468" y="4096512"/>
            <a:ext cx="2781148" cy="603504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770468" y="4096512"/>
            <a:ext cx="27811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Technician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5760720" y="4901184"/>
            <a:ext cx="2781148" cy="603504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760720" y="4901184"/>
            <a:ext cx="27811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770468" y="4901184"/>
            <a:ext cx="2781148" cy="603504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770468" y="4901184"/>
            <a:ext cx="27811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GHANA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Compliance-first, not just localized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4298" cy="20574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57984"/>
            <a:ext cx="512064" cy="512064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6" name="Image 0" descr="/private/tmp/claude-501/-Users-marzooqhabibmohamadu-Documents-hospital-management-system/e906771b-d992-4fe3-ba09-a61aff85e5cf/scratchpad/deck/icons/Banknot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2275759"/>
            <a:ext cx="276515" cy="2765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79776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45536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Cedi stored as integer pesewas (GHS × 100) — never a float, so money never rounds wrong.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8698" y="1920240"/>
            <a:ext cx="3454298" cy="20574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3018" y="2157984"/>
            <a:ext cx="512064" cy="512064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11" name="Image 1" descr="/private/tmp/claude-501/-Users-marzooqhabibmohamadu-Documents-hospital-management-system/e906771b-d992-4fe3-ba09-a61aff85e5cf/scratchpad/deck/icons/IdCard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793" y="2275759"/>
            <a:ext cx="276515" cy="2765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43018" y="2779776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Card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43018" y="3145536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 number format validated and stored separately from NHIS / Voter ID.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7317" y="1920240"/>
            <a:ext cx="3454298" cy="20574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1637" y="2157984"/>
            <a:ext cx="512064" cy="512064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16" name="Image 2" descr="/private/tmp/claude-501/-Users-marzooqhabibmohamadu-Documents-hospital-management-system/e906771b-d992-4fe3-ba09-a61aff85e5cf/scratchpad/deck/icons/HeartPuls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412" y="2275759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71637" y="2779776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NHIS &amp; private insurance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371637" y="3145536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generically behind a mock provider interface — clearly marked mock, nothing fabricated.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454298" cy="20574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352544"/>
            <a:ext cx="512064" cy="512064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21" name="Image 3" descr="/private/tmp/claude-501/-Users-marzooqhabibmohamadu-Documents-hospital-management-system/e906771b-d992-4fe3-ba09-a61aff85e5cf/scratchpad/deck/icons/Smartphon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75" y="4470319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4400" y="4974336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340096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MoMo, Telecel Cash, AirtelTigo Money modeled as first-class payment methods.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68698" y="4114800"/>
            <a:ext cx="3454298" cy="20574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3018" y="4352544"/>
            <a:ext cx="512064" cy="512064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26" name="Image 4" descr="/private/tmp/claude-501/-Users-marzooqhabibmohamadu-Documents-hospital-management-system/e906771b-d992-4fe3-ba09-a61aff85e5cf/scratchpad/deck/icons/Scale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793" y="4470319"/>
            <a:ext cx="276515" cy="27651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43018" y="4974336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Act, 2012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643018" y="5340096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843 is the compliance frame behind every audit-log and soft-delete decision in the system.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7317" y="4114800"/>
            <a:ext cx="3454298" cy="20574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1637" y="4352544"/>
            <a:ext cx="512064" cy="512064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31" name="Image 5" descr="/private/tmp/claude-501/-Users-marzooqhabibmohamadu-Documents-hospital-management-system/e906771b-d992-4fe3-ba09-a61aff85e5cf/scratchpad/deck/icons/Globe2-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412" y="4470319"/>
            <a:ext cx="276515" cy="27651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71637" y="4974336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by default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371637" y="5340096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Africa/Accra timezone throughout, and free-text region / district / town addressing.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Patients, appointments, and the queue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5429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87168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6" name="Image 0" descr="/private/tmp/claude-501/-Users-marzooqhabibmohamadu-Documents-hospital-management-system/e906771b-d992-4fe3-ba09-a61aff85e5cf/scratchpad/deck/icons/UserPlu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93" y="2617561"/>
            <a:ext cx="306141" cy="3061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2487168"/>
            <a:ext cx="220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3328416"/>
            <a:ext cx="283250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Ghana Card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full profile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structured allergies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Soft-delete, fully audit-logged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68698" y="2194560"/>
            <a:ext cx="345429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3018" y="2487168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1" name="Image 1" descr="/private/tmp/claude-501/-Users-marzooqhabibmohamadu-Documents-hospital-management-system/e906771b-d992-4fe3-ba09-a61aff85e5cf/scratchpad/deck/icons/CalendarDay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412" y="2617561"/>
            <a:ext cx="306141" cy="30614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2826" y="2487168"/>
            <a:ext cx="220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679594" y="3328416"/>
            <a:ext cx="283250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cancel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&amp; department scheduling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prevention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97317" y="2194560"/>
            <a:ext cx="345429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1637" y="2487168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6" name="Image 2" descr="/private/tmp/claude-501/-Users-marzooqhabibmohamadu-Documents-hospital-management-system/e906771b-d992-4fe3-ba09-a61aff85e5cf/scratchpad/deck/icons/Stethoscop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30" y="2617561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21445" y="2487168"/>
            <a:ext cx="220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Vitals &amp; Consultation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08213" y="3328416"/>
            <a:ext cx="283250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generates daily queue #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Emergency-priority ordering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→ diagnosis → plan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medical record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Lab, pharmacy, admissions &amp; referrals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22144" cy="3429000"/>
          </a:xfrm>
          <a:prstGeom prst="roundRect">
            <a:avLst>
              <a:gd name="adj" fmla="val 435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87168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6" name="Image 0" descr="/private/tmp/claude-501/-Users-marzooqhabibmohamadu-Documents-hospital-management-system/e906771b-d992-4fe3-ba09-a61aff85e5cf/scratchpad/deck/icons/FlaskConical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93" y="2617561"/>
            <a:ext cx="306141" cy="3061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2487168"/>
            <a:ext cx="1269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3328416"/>
            <a:ext cx="190035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catalogue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Sample-to-result workflow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result validation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results hidden until validated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36544" y="2194560"/>
            <a:ext cx="2522144" cy="3429000"/>
          </a:xfrm>
          <a:prstGeom prst="roundRect">
            <a:avLst>
              <a:gd name="adj" fmla="val 435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10864" y="2487168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1" name="Image 1" descr="/private/tmp/claude-501/-Users-marzooqhabibmohamadu-Documents-hospital-management-system/e906771b-d992-4fe3-ba09-a61aff85e5cf/scratchpad/deck/icons/Pill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257" y="2617561"/>
            <a:ext cx="306141" cy="30614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60672" y="2487168"/>
            <a:ext cx="1269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Inventory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747440" y="3328416"/>
            <a:ext cx="190035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tied to consultation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vs. stock + quantity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Row-locked to avoid race conditions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33008" y="2194560"/>
            <a:ext cx="2522144" cy="3429000"/>
          </a:xfrm>
          <a:prstGeom prst="roundRect">
            <a:avLst>
              <a:gd name="adj" fmla="val 435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07328" y="2487168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6" name="Image 2" descr="/private/tmp/claude-501/-Users-marzooqhabibmohamadu-Documents-hospital-management-system/e906771b-d992-4fe3-ba09-a61aff85e5cf/scratchpad/deck/icons/BedDoubl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721" y="2617561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57136" y="2487168"/>
            <a:ext cx="1269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6543904" y="3328416"/>
            <a:ext cx="190035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Ward, room &amp; bed setup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Admit, transfer, discharge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blocked by the database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29471" y="2194560"/>
            <a:ext cx="2522144" cy="3429000"/>
          </a:xfrm>
          <a:prstGeom prst="roundRect">
            <a:avLst>
              <a:gd name="adj" fmla="val 435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03791" y="2487168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21" name="Image 3" descr="/private/tmp/claude-501/-Users-marzooqhabibmohamadu-Documents-hospital-management-system/e906771b-d992-4fe3-ba09-a61aff85e5cf/scratchpad/deck/icons/ArrowLeftRigh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185" y="2617561"/>
            <a:ext cx="306141" cy="30614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053599" y="2487168"/>
            <a:ext cx="1269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9340367" y="3328416"/>
            <a:ext cx="190035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or external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&amp; destination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tracking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visit, start to finish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walks in with a fever — here's what the system does behind the scenes.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475488" cy="47548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6" name="Image 0" descr="/private/tmp/claude-501/-Users-marzooqhabibmohamadu-Documents-hospital-management-system/e906771b-d992-4fe3-ba09-a61aff85e5cf/scratchpad/deck/icons/UserPlu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687" y="2162007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44168" y="2020824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— Ghana Card and phone number on file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770632"/>
            <a:ext cx="475488" cy="475488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9" name="Image 1" descr="/private/tmp/claude-501/-Users-marzooqhabibmohamadu-Documents-hospital-management-system/e906771b-d992-4fe3-ba09-a61aff85e5cf/scratchpad/deck/icons/ListOrdered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7" y="2875239"/>
            <a:ext cx="266273" cy="26627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44168" y="2734056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— queue #4, General Outpatient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483864"/>
            <a:ext cx="475488" cy="47548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2" name="Image 2" descr="/private/tmp/claude-501/-Users-marzooqhabibmohamadu-Documents-hospital-management-system/e906771b-d992-4fe3-ba09-a61aff85e5cf/scratchpad/deck/icons/Stethoscop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87" y="3588471"/>
            <a:ext cx="266273" cy="2662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44168" y="3447288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recorded, then consultation — diagnosis: suspected malaria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4197096"/>
            <a:ext cx="475488" cy="475488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15" name="Image 3" descr="/private/tmp/claude-501/-Users-marzooqhabibmohamadu-Documents-hospital-management-system/e906771b-d992-4fe3-ba09-a61aff85e5cf/scratchpad/deck/icons/FlaskConical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87" y="4301703"/>
            <a:ext cx="266273" cy="26627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44168" y="4160520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 ordered — Malaria RDT, sample collected &amp; validated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40080" y="4910328"/>
            <a:ext cx="475488" cy="47548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8" name="Image 4" descr="/private/tmp/claude-501/-Users-marzooqhabibmohamadu-Documents-hospital-management-system/e906771b-d992-4fe3-ba09-a61aff85e5cf/scratchpad/deck/icons/Pill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87" y="5014935"/>
            <a:ext cx="266273" cy="26627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44168" y="4873752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issued — dispensed against real stock, count decremented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40080" y="5623560"/>
            <a:ext cx="475488" cy="475488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21" name="Image 5" descr="/private/tmp/claude-501/-Users-marzooqhabibmohamadu-Documents-hospital-management-system/e906771b-d992-4fe3-ba09-a61aff85e5cf/scratchpad/deck/icons/FileCheck2-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87" y="5728167"/>
            <a:ext cx="266273" cy="266273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344168" y="5586984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 auto-saved to Ama's history — visit closed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7589520" y="2057400"/>
            <a:ext cx="3962095" cy="4114800"/>
          </a:xfrm>
          <a:prstGeom prst="roundRect">
            <a:avLst>
              <a:gd name="adj" fmla="val 3231"/>
            </a:avLst>
          </a:prstGeom>
          <a:solidFill>
            <a:srgbClr val="132048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113368" y="2331720"/>
            <a:ext cx="914400" cy="91440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9113368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7772400" y="338328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Mensah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7772400" y="3730752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patient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7955280" y="4297680"/>
            <a:ext cx="323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7955280" y="453542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Outpatient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7955280" y="4901184"/>
            <a:ext cx="323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NUMBER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7955280" y="5138928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7 today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7955280" y="5504688"/>
            <a:ext cx="323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STATUS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7955280" y="5742432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&amp; recorded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verified, not just written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was run against the live API before being called done.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240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9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(pytest + pytest-django)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4251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9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212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(Vitest + React Testing Library)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2103120"/>
            <a:ext cx="7802575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23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2340864"/>
            <a:ext cx="512064" cy="512064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13" name="Image 0" descr="/private/tmp/claude-501/-Users-marzooqhabibmohamadu-Documents-hospital-management-system/e906771b-d992-4fe3-ba09-a61aff85e5cf/scratchpad/deck/icons/AlertTriang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1135" y="2458639"/>
            <a:ext cx="276515" cy="27651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736592" y="2340864"/>
            <a:ext cx="65132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in testing: a permission gap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3017520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Techs and Pharmacists could edit inventory, but the generic permission check only looked for “create” — fixed by checking the real permission explicitly.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749040" y="4114800"/>
            <a:ext cx="7802575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23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023360" y="4352544"/>
            <a:ext cx="512064" cy="512064"/>
          </a:xfrm>
          <a:prstGeom prst="ellipse">
            <a:avLst/>
          </a:prstGeom>
          <a:solidFill>
            <a:srgbClr val="0E9C8F"/>
          </a:solidFill>
          <a:ln/>
        </p:spPr>
      </p:sp>
      <p:pic>
        <p:nvPicPr>
          <p:cNvPr id="18" name="Image 1" descr="/private/tmp/claude-501/-Users-marzooqhabibmohamadu-Documents-hospital-management-system/e906771b-d992-4fe3-ba09-a61aff85e5cf/scratchpad/deck/icons/AlertTriangl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135" y="4470319"/>
            <a:ext cx="276515" cy="27651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36592" y="4352544"/>
            <a:ext cx="65132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in testing: one denied permission broke a page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023360" y="5029200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missing a single sub-permission failed to load an entire workspace — fixed to degrade gracefully instead of failing outright.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depth,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18608" cy="1965960"/>
          </a:xfrm>
          <a:prstGeom prst="roundRect">
            <a:avLst>
              <a:gd name="adj" fmla="val 5581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340864"/>
            <a:ext cx="603504" cy="603504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6" name="Image 0" descr="/private/tmp/claude-501/-Users-marzooqhabibmohamadu-Documents-hospital-management-system/e906771b-d992-4fe3-ba09-a61aff85e5cf/scratchpad/deck/icons/Histor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358" y="2479670"/>
            <a:ext cx="325892" cy="3258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47088" y="2286000"/>
            <a:ext cx="379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847088" y="2743200"/>
            <a:ext cx="379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record access, diagnoses, prescriptions, dispensing, admissions — logged for every role, including System Admin. No update or delete path, ever.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3008" y="2011680"/>
            <a:ext cx="5318608" cy="1965960"/>
          </a:xfrm>
          <a:prstGeom prst="roundRect">
            <a:avLst>
              <a:gd name="adj" fmla="val 5581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0480" y="2340864"/>
            <a:ext cx="603504" cy="603504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1" name="Image 1" descr="/private/tmp/claude-501/-Users-marzooqhabibmohamadu-Documents-hospital-management-system/e906771b-d992-4fe3-ba09-a61aff85e5cf/scratchpad/deck/icons/ShieldAlert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286" y="2479670"/>
            <a:ext cx="325892" cy="3258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40016" y="2286000"/>
            <a:ext cx="379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protection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40016" y="2743200"/>
            <a:ext cx="379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guessing another hospital's patient ID gets a 404, not a 403 — it never even confirms the record exists.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318608" cy="1965960"/>
          </a:xfrm>
          <a:prstGeom prst="roundRect">
            <a:avLst>
              <a:gd name="adj" fmla="val 5581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7552" y="4489704"/>
            <a:ext cx="603504" cy="603504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6" name="Image 2" descr="/private/tmp/claude-501/-Users-marzooqhabibmohamadu-Documents-hospital-management-system/e906771b-d992-4fe3-ba09-a61aff85e5cf/scratchpad/deck/icons/RotateCcw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58" y="4628510"/>
            <a:ext cx="325892" cy="3258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47088" y="4434840"/>
            <a:ext cx="379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only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847088" y="4892040"/>
            <a:ext cx="379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 are never hard-deleted. “Delete” hides and blocks new activity — fully reversible, nothing erased.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33008" y="4160520"/>
            <a:ext cx="5318608" cy="1965960"/>
          </a:xfrm>
          <a:prstGeom prst="roundRect">
            <a:avLst>
              <a:gd name="adj" fmla="val 5581"/>
            </a:avLst>
          </a:prstGeom>
          <a:solidFill>
            <a:srgbClr val="F2F5FA"/>
          </a:solidFill>
          <a:ln/>
          <a:effectLst>
            <a:outerShdw sx="100000" sy="100000" kx="0" ky="0" algn="bl" rotWithShape="0" blurRad="127000" dist="38100" dir="5400000">
              <a:srgbClr val="0B12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0480" y="4489704"/>
            <a:ext cx="603504" cy="603504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21" name="Image 3" descr="/private/tmp/claude-501/-Users-marzooqhabibmohamadu-Documents-hospital-management-system/e906771b-d992-4fe3-ba09-a61aff85e5cf/scratchpad/deck/icons/Building2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286" y="4628510"/>
            <a:ext cx="325892" cy="3258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40016" y="4434840"/>
            <a:ext cx="379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Hospital-scoped by default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40016" y="4892040"/>
            <a:ext cx="379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carries a hospital ID from day one, even with one hospital today — ready for multi-hospital without a schema rewrite.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deferred, not forgotten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out on purpose, to ship a solid core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3977640"/>
          </a:xfrm>
          <a:prstGeom prst="roundRect">
            <a:avLst>
              <a:gd name="adj" fmla="val 3218"/>
            </a:avLst>
          </a:prstGeom>
          <a:solidFill>
            <a:srgbClr val="F2F5FA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514600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7" name="Image 0" descr="/private/tmp/claude-501/-Users-marzooqhabibmohamadu-Documents-hospital-management-system/e906771b-d992-4fe3-ba09-a61aff85e5cf/scratchpad/deck/icons/BarChart3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113" y="2644993"/>
            <a:ext cx="306141" cy="30614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2478024"/>
            <a:ext cx="388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 dashboards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95848" y="2514600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0" name="Image 1" descr="/private/tmp/claude-501/-Users-marzooqhabibmohamadu-Documents-hospital-management-system/e906771b-d992-4fe3-ba09-a61aff85e5cf/scratchpad/deck/icons/Hourglas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241" y="2644993"/>
            <a:ext cx="306141" cy="30614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18808" y="2478024"/>
            <a:ext cx="388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 auth endpoints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188720" y="3703320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3" name="Image 2" descr="/private/tmp/claude-501/-Users-marzooqhabibmohamadu-Documents-hospital-management-system/e906771b-d992-4fe3-ba09-a61aff85e5cf/scratchpad/deck/icons/CheckCircle2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13" y="3833713"/>
            <a:ext cx="306141" cy="30614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11680" y="3666744"/>
            <a:ext cx="388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Playwright end-to-end test suite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095848" y="3703320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6" name="Image 3" descr="/private/tmp/claude-501/-Users-marzooqhabibmohamadu-Documents-hospital-management-system/e906771b-d992-4fe3-ba09-a61aff85e5cf/scratchpad/deck/icons/BellOff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241" y="3833713"/>
            <a:ext cx="306141" cy="30614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18808" y="3666744"/>
            <a:ext cx="388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SMS notification integration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1188720" y="4892040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19" name="Image 4" descr="/private/tmp/claude-501/-Users-marzooqhabibmohamadu-Documents-hospital-management-system/e906771b-d992-4fe3-ba09-a61aff85e5cf/scratchpad/deck/icons/Users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113" y="5022433"/>
            <a:ext cx="306141" cy="30614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011680" y="4855464"/>
            <a:ext cx="388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self-service portal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6095848" y="4892040"/>
            <a:ext cx="566928" cy="566928"/>
          </a:xfrm>
          <a:prstGeom prst="ellipse">
            <a:avLst/>
          </a:prstGeom>
          <a:solidFill>
            <a:srgbClr val="132048"/>
          </a:solidFill>
          <a:ln/>
        </p:spPr>
      </p:sp>
      <p:pic>
        <p:nvPicPr>
          <p:cNvPr id="22" name="Image 5" descr="/private/tmp/claude-501/-Users-marzooqhabibmohamadu-Documents-hospital-management-system/e906771b-d992-4fe3-ba09-a61aff85e5cf/scratchpad/deck/icons/Globe2-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241" y="5022433"/>
            <a:ext cx="306141" cy="30614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18808" y="4855464"/>
            <a:ext cx="388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admin UI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Hospital Management System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5943600" cy="5943600"/>
          </a:xfrm>
          <a:prstGeom prst="ellipse">
            <a:avLst/>
          </a:prstGeom>
          <a:solidFill>
            <a:srgbClr val="17C3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206240"/>
            <a:ext cx="5669280" cy="5669280"/>
          </a:xfrm>
          <a:prstGeom prst="ellipse">
            <a:avLst/>
          </a:prstGeom>
          <a:solidFill>
            <a:srgbClr val="17C3B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33392" y="822960"/>
            <a:ext cx="457200" cy="45720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5" name="Image 0" descr="/private/tmp/claude-501/-Users-marzooqhabibmohamadu-Documents-hospital-management-system/e906771b-d992-4fe3-ba09-a61aff85e5cf/scratchpad/deck/icons/ShieldCheck-13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9404" y="91897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55184" y="80467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HMS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582255" y="3840480"/>
            <a:ext cx="603504" cy="603504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0" name="Image 1" descr="/private/tmp/claude-501/-Users-marzooqhabibmohamadu-Documents-hospital-management-system/e906771b-d992-4fe3-ba09-a61aff85e5cf/scratchpad/deck/icons/CheckCircle2-1320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061" y="3979286"/>
            <a:ext cx="325892" cy="3258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4645152"/>
            <a:ext cx="2304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core modules, working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390149" y="3840480"/>
            <a:ext cx="603504" cy="603504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3" name="Image 2" descr="/private/tmp/claude-501/-Users-marzooqhabibmohamadu-Documents-hospital-management-system/e906771b-d992-4fe3-ba09-a61aff85e5cf/scratchpad/deck/icons/ShieldCheck-1320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955" y="3979286"/>
            <a:ext cx="325892" cy="3258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39414" y="4645152"/>
            <a:ext cx="2304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roles, server-side RBAC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198042" y="3840480"/>
            <a:ext cx="603504" cy="603504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6" name="Image 3" descr="/private/tmp/claude-501/-Users-marzooqhabibmohamadu-Documents-hospital-management-system/e906771b-d992-4fe3-ba09-a61aff85e5cf/scratchpad/deck/icons/Award-13204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848" y="3979286"/>
            <a:ext cx="325892" cy="3258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47308" y="4645152"/>
            <a:ext cx="2304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tests, all passing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10005936" y="3840480"/>
            <a:ext cx="603504" cy="603504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9" name="Image 4" descr="/private/tmp/claude-501/-Users-marzooqhabibmohamadu-Documents-hospital-management-system/e906771b-d992-4fe3-ba09-a61aff85e5cf/scratchpad/deck/icons/RotateCcw-13204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4742" y="3979286"/>
            <a:ext cx="325892" cy="32589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155201" y="4645152"/>
            <a:ext cx="2304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hard-deletes of records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914400" y="61722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Project Presentation  ·  [Your Name]  ·  [Date]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2026-09-21T17:29:41Z</dcterms:created>
  <dcterms:modified xsi:type="dcterms:W3CDTF">2026-09-21T17:29:41Z</dcterms:modified>
</cp:coreProperties>
</file>